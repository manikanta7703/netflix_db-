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eb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5C4E-BB18-F61B-55D6-113634F96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947" y="1026696"/>
            <a:ext cx="10282989" cy="1090862"/>
          </a:xfrm>
        </p:spPr>
        <p:txBody>
          <a:bodyPr>
            <a:normAutofit/>
          </a:bodyPr>
          <a:lstStyle/>
          <a:p>
            <a:r>
              <a:rPr lang="en-IN" sz="4400" dirty="0"/>
              <a:t>Netflix Database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DA6C3-BB35-2F39-E2A4-7DD20CAA4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6824" y="2601119"/>
            <a:ext cx="8791575" cy="1655762"/>
          </a:xfrm>
        </p:spPr>
        <p:txBody>
          <a:bodyPr>
            <a:normAutofit/>
          </a:bodyPr>
          <a:lstStyle/>
          <a:p>
            <a:r>
              <a:rPr lang="en-IN" dirty="0"/>
              <a:t>Presented by – manikanta</a:t>
            </a:r>
          </a:p>
          <a:p>
            <a:r>
              <a:rPr lang="en-IN" dirty="0"/>
              <a:t>Institute – it </a:t>
            </a:r>
            <a:r>
              <a:rPr lang="en-IN" dirty="0" err="1"/>
              <a:t>vedant</a:t>
            </a:r>
            <a:endParaRPr lang="en-IN" dirty="0"/>
          </a:p>
          <a:p>
            <a:r>
              <a:rPr lang="en-IN" dirty="0"/>
              <a:t>Guided by –  </a:t>
            </a:r>
            <a:r>
              <a:rPr lang="en-IN" dirty="0" err="1"/>
              <a:t>samaranjanachary</a:t>
            </a:r>
            <a:r>
              <a:rPr lang="en-IN" dirty="0"/>
              <a:t> sir (faculty,  it </a:t>
            </a:r>
            <a:r>
              <a:rPr lang="en-IN" dirty="0" err="1"/>
              <a:t>vedant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126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8349A-B4DB-3ECC-7F26-4803CCF7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18518"/>
            <a:ext cx="10776283" cy="946332"/>
          </a:xfrm>
        </p:spPr>
        <p:txBody>
          <a:bodyPr/>
          <a:lstStyle/>
          <a:p>
            <a:r>
              <a:rPr lang="en-IN" sz="3200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CF300-27CC-E834-A180-2D57CE5E9FA6}"/>
              </a:ext>
            </a:extLst>
          </p:cNvPr>
          <p:cNvSpPr txBox="1"/>
          <p:nvPr/>
        </p:nvSpPr>
        <p:spPr>
          <a:xfrm>
            <a:off x="1234911" y="1564850"/>
            <a:ext cx="94927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Netflix is a leading online streaming platform offering movies, series, and documentaries globally.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project demonstrates how a relational SQL database can efficiently manage Netflix's data including users, movies, subscriptions, and views.</a:t>
            </a:r>
          </a:p>
        </p:txBody>
      </p:sp>
    </p:spTree>
    <p:extLst>
      <p:ext uri="{BB962C8B-B14F-4D97-AF65-F5344CB8AC3E}">
        <p14:creationId xmlns:p14="http://schemas.microsoft.com/office/powerpoint/2010/main" val="407186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797A3D-63B8-5EDE-BD79-E118F8F3F629}"/>
              </a:ext>
            </a:extLst>
          </p:cNvPr>
          <p:cNvSpPr txBox="1"/>
          <p:nvPr/>
        </p:nvSpPr>
        <p:spPr>
          <a:xfrm>
            <a:off x="1195137" y="1490007"/>
            <a:ext cx="980172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PROJECT OBJECTIVE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Design a relational SQL database for Netflix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Manage users, plans, subscriptions, movies, genres, and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Track user activity and 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Extract insights using SQL queries</a:t>
            </a:r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34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EDCF95-3132-BC9E-0512-C40AB4B4BD08}"/>
              </a:ext>
            </a:extLst>
          </p:cNvPr>
          <p:cNvSpPr txBox="1"/>
          <p:nvPr/>
        </p:nvSpPr>
        <p:spPr>
          <a:xfrm>
            <a:off x="1283368" y="641684"/>
            <a:ext cx="972151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SCOPE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User registration and subscription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Movie and genre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Viewing history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Rating and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Payment and revenue tracking</a:t>
            </a:r>
          </a:p>
          <a:p>
            <a:endParaRPr lang="en-US" sz="2800" dirty="0"/>
          </a:p>
          <a:p>
            <a:r>
              <a:rPr lang="en-US" sz="2800" b="1" dirty="0"/>
              <a:t>TOOLS USED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MySQL Workbench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PowerPoint for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5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694B71-0D0A-2600-CEF6-BFBA0002D1F0}"/>
              </a:ext>
            </a:extLst>
          </p:cNvPr>
          <p:cNvSpPr txBox="1"/>
          <p:nvPr/>
        </p:nvSpPr>
        <p:spPr>
          <a:xfrm>
            <a:off x="1155032" y="818147"/>
            <a:ext cx="976964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Database Overview</a:t>
            </a:r>
          </a:p>
          <a:p>
            <a:r>
              <a:rPr lang="en-IN" sz="2800" b="1" dirty="0"/>
              <a:t>Database:</a:t>
            </a:r>
            <a:r>
              <a:rPr lang="en-IN" sz="2800" dirty="0"/>
              <a:t> </a:t>
            </a:r>
            <a:r>
              <a:rPr lang="en-IN" sz="2800" dirty="0" err="1"/>
              <a:t>Netflix_db</a:t>
            </a:r>
            <a:br>
              <a:rPr lang="en-IN" sz="2800" dirty="0"/>
            </a:br>
            <a:r>
              <a:rPr lang="en-IN" sz="2800" b="1" dirty="0"/>
              <a:t>Tables:</a:t>
            </a:r>
          </a:p>
          <a:p>
            <a:r>
              <a:rPr lang="en-IN" sz="2800" dirty="0"/>
              <a:t>   1. Users</a:t>
            </a:r>
          </a:p>
          <a:p>
            <a:r>
              <a:rPr lang="en-IN" sz="2800" dirty="0"/>
              <a:t>   2. Plans</a:t>
            </a:r>
          </a:p>
          <a:p>
            <a:r>
              <a:rPr lang="en-IN" sz="2800" dirty="0"/>
              <a:t>   3. Subscriptions</a:t>
            </a:r>
          </a:p>
          <a:p>
            <a:r>
              <a:rPr lang="en-IN" sz="2800" dirty="0"/>
              <a:t>   4. Movies</a:t>
            </a:r>
          </a:p>
          <a:p>
            <a:r>
              <a:rPr lang="en-IN" sz="2800" dirty="0"/>
              <a:t>   5. Genres</a:t>
            </a:r>
          </a:p>
          <a:p>
            <a:r>
              <a:rPr lang="en-IN" sz="2800" dirty="0"/>
              <a:t>   6. Movie Genres</a:t>
            </a:r>
          </a:p>
          <a:p>
            <a:r>
              <a:rPr lang="en-IN" sz="2800" dirty="0"/>
              <a:t>   7. Views</a:t>
            </a:r>
          </a:p>
          <a:p>
            <a:r>
              <a:rPr lang="en-IN" sz="2800" dirty="0"/>
              <a:t>   8. Ratings</a:t>
            </a:r>
          </a:p>
        </p:txBody>
      </p:sp>
    </p:spTree>
    <p:extLst>
      <p:ext uri="{BB962C8B-B14F-4D97-AF65-F5344CB8AC3E}">
        <p14:creationId xmlns:p14="http://schemas.microsoft.com/office/powerpoint/2010/main" val="369672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EC87-F14D-F4F0-C94A-50FEECCDA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3895F4-35CA-4E2B-DFD1-1A566C81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146" y="0"/>
            <a:ext cx="680185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341355-5B30-409F-F751-6A9031A5FD34}"/>
              </a:ext>
            </a:extLst>
          </p:cNvPr>
          <p:cNvSpPr txBox="1"/>
          <p:nvPr/>
        </p:nvSpPr>
        <p:spPr>
          <a:xfrm>
            <a:off x="721894" y="433137"/>
            <a:ext cx="44436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ER Diagram</a:t>
            </a:r>
          </a:p>
          <a:p>
            <a:r>
              <a:rPr lang="en-US" sz="2400" dirty="0"/>
              <a:t>The ER diagram shows relationships among the tables:</a:t>
            </a:r>
          </a:p>
          <a:p>
            <a:r>
              <a:rPr lang="en-US" sz="2400" dirty="0"/>
              <a:t>  Users → Subscriptions (1-to-Many)</a:t>
            </a:r>
          </a:p>
          <a:p>
            <a:r>
              <a:rPr lang="en-US" sz="2400" dirty="0"/>
              <a:t>Plans → Subscriptions (1-to-Many)</a:t>
            </a:r>
          </a:p>
          <a:p>
            <a:r>
              <a:rPr lang="en-US" sz="2400" dirty="0"/>
              <a:t>Movies → Movie Genres (Many-to-Many)</a:t>
            </a:r>
          </a:p>
          <a:p>
            <a:r>
              <a:rPr lang="en-US" sz="2400" dirty="0"/>
              <a:t>Users → Views (1-to-Many)</a:t>
            </a:r>
          </a:p>
          <a:p>
            <a:r>
              <a:rPr lang="en-US" sz="2400" dirty="0"/>
              <a:t>Movies → Views (1-to-Many)</a:t>
            </a:r>
          </a:p>
          <a:p>
            <a:r>
              <a:rPr lang="en-US" sz="2400" dirty="0"/>
              <a:t>Users → Ratings (1-to-Many)</a:t>
            </a:r>
          </a:p>
          <a:p>
            <a:r>
              <a:rPr lang="en-US" sz="2400" dirty="0"/>
              <a:t>Movies → Ratings (1-to-Many)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45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8541F9-7744-243D-F77B-948E6B799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495" y="748413"/>
            <a:ext cx="3019846" cy="1733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7E7F7-2500-6ECD-779C-4391AF27F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22" y="3429000"/>
            <a:ext cx="5134692" cy="22958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29C832-21F5-3CCF-EBE7-D7E2E2E44F4D}"/>
              </a:ext>
            </a:extLst>
          </p:cNvPr>
          <p:cNvSpPr txBox="1"/>
          <p:nvPr/>
        </p:nvSpPr>
        <p:spPr>
          <a:xfrm>
            <a:off x="1281404" y="745433"/>
            <a:ext cx="767009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Users Table:</a:t>
            </a:r>
          </a:p>
          <a:p>
            <a:r>
              <a:rPr lang="en-US" sz="2800" dirty="0"/>
              <a:t>Stores registered users’ information.</a:t>
            </a:r>
            <a:br>
              <a:rPr lang="en-US" sz="2800" dirty="0"/>
            </a:br>
            <a:r>
              <a:rPr lang="en-US" sz="2800" b="1" dirty="0"/>
              <a:t>Fields:</a:t>
            </a:r>
            <a:r>
              <a:rPr lang="en-US" sz="2800" dirty="0"/>
              <a:t> User ID, User Name, Email, Country, Join Date</a:t>
            </a:r>
            <a:br>
              <a:rPr lang="en-US" sz="2800" dirty="0"/>
            </a:br>
            <a:r>
              <a:rPr lang="en-US" sz="2800" b="1" dirty="0"/>
              <a:t>Primary Key:</a:t>
            </a:r>
            <a:r>
              <a:rPr lang="en-US" sz="2800" dirty="0"/>
              <a:t> User ID</a:t>
            </a:r>
            <a:br>
              <a:rPr lang="en-US" sz="2800" dirty="0"/>
            </a:br>
            <a:r>
              <a:rPr lang="en-US" sz="2800" b="1" dirty="0"/>
              <a:t>Constraints:</a:t>
            </a:r>
            <a:r>
              <a:rPr lang="en-US" sz="2800" dirty="0"/>
              <a:t> Email must be unique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64C1E7-03BE-08B0-D320-7665716F0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229" y="3242162"/>
            <a:ext cx="4744112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7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BE0F-26E1-AAF3-0BA3-0582B952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F84DC-3BAE-4945-AAD2-AD1D0DC3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351" y="685397"/>
            <a:ext cx="2824344" cy="2015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3A0F31-EEF6-E618-4649-EDCD1E83B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098" y="3557337"/>
            <a:ext cx="5726144" cy="1832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E68E8E-A6D6-B90F-34CB-95166E74430F}"/>
              </a:ext>
            </a:extLst>
          </p:cNvPr>
          <p:cNvSpPr txBox="1"/>
          <p:nvPr/>
        </p:nvSpPr>
        <p:spPr>
          <a:xfrm>
            <a:off x="1154098" y="770021"/>
            <a:ext cx="685091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Plans Table:</a:t>
            </a:r>
          </a:p>
          <a:p>
            <a:r>
              <a:rPr lang="en-US" sz="2400" dirty="0"/>
              <a:t>Stores Netflix subscription plans.</a:t>
            </a:r>
            <a:br>
              <a:rPr lang="en-US" sz="2400" dirty="0"/>
            </a:br>
            <a:r>
              <a:rPr lang="en-US" sz="2400" b="1" dirty="0"/>
              <a:t>Fields:</a:t>
            </a:r>
            <a:r>
              <a:rPr lang="en-US" sz="2400" dirty="0"/>
              <a:t> Plan ID, Plan Name, Price, Resolution, Screens</a:t>
            </a:r>
            <a:br>
              <a:rPr lang="en-US" sz="2400" dirty="0"/>
            </a:br>
            <a:r>
              <a:rPr lang="en-US" sz="2400" b="1" dirty="0"/>
              <a:t>Primary Key:</a:t>
            </a:r>
            <a:r>
              <a:rPr lang="en-US" sz="2400" dirty="0"/>
              <a:t> Plan ID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88221-1CBD-C18B-32AE-E51B64825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277" y="3557337"/>
            <a:ext cx="3412418" cy="183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0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F9B48-A3C5-258A-CB74-70B73BA88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9843C9-004E-2F35-38D1-5DC0A6DA1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776" y="524220"/>
            <a:ext cx="4572638" cy="2248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1AFA6F-7D5F-061B-2321-42E7A6D29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197" y="3028496"/>
            <a:ext cx="4448217" cy="358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B28763-F4DE-2CEA-1576-F00CB090D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821" y="3429000"/>
            <a:ext cx="5448861" cy="30073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44F7B5-D51F-8960-8F21-21D665A370AF}"/>
              </a:ext>
            </a:extLst>
          </p:cNvPr>
          <p:cNvSpPr txBox="1"/>
          <p:nvPr/>
        </p:nvSpPr>
        <p:spPr>
          <a:xfrm>
            <a:off x="1074821" y="524220"/>
            <a:ext cx="54488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Subscriptions Table:</a:t>
            </a:r>
          </a:p>
          <a:p>
            <a:r>
              <a:rPr lang="en-IN" sz="2400" dirty="0"/>
              <a:t>Links a user with a subscription plan.</a:t>
            </a:r>
            <a:br>
              <a:rPr lang="en-IN" sz="2400" dirty="0"/>
            </a:br>
            <a:r>
              <a:rPr lang="en-IN" sz="2400" b="1" dirty="0"/>
              <a:t>Fields:</a:t>
            </a:r>
            <a:r>
              <a:rPr lang="en-IN" sz="2400" dirty="0"/>
              <a:t> Subscription ID, User ID, Plan ID, StartDate, End Date</a:t>
            </a:r>
            <a:br>
              <a:rPr lang="en-IN" sz="2400" dirty="0"/>
            </a:br>
            <a:r>
              <a:rPr lang="en-IN" sz="2400" b="1" dirty="0"/>
              <a:t>Foreign Keys:</a:t>
            </a:r>
            <a:r>
              <a:rPr lang="en-IN" sz="2400" dirty="0"/>
              <a:t> User ID → Users(User ID), Plan ID → Plans(Plan ID)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833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7A2611-B096-648D-7763-08D50D113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853" y="784439"/>
            <a:ext cx="4694429" cy="21031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8CE78-AF01-B846-BFDF-9E4DAB9B1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852" y="3429000"/>
            <a:ext cx="4694429" cy="2781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491912-4265-053B-2FB7-B9A9887D6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038" y="3429000"/>
            <a:ext cx="4821962" cy="2781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1BEA1E-D413-1C67-09CF-37007FD26930}"/>
              </a:ext>
            </a:extLst>
          </p:cNvPr>
          <p:cNvSpPr txBox="1"/>
          <p:nvPr/>
        </p:nvSpPr>
        <p:spPr>
          <a:xfrm>
            <a:off x="1274038" y="647312"/>
            <a:ext cx="46944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Movies Table:</a:t>
            </a:r>
          </a:p>
          <a:p>
            <a:r>
              <a:rPr lang="en-US" sz="2400" dirty="0"/>
              <a:t>Contains all movies and series.</a:t>
            </a:r>
            <a:br>
              <a:rPr lang="en-US" sz="2400" dirty="0"/>
            </a:br>
            <a:r>
              <a:rPr lang="en-US" sz="2400" b="1" dirty="0"/>
              <a:t>Fields:</a:t>
            </a:r>
            <a:r>
              <a:rPr lang="en-US" sz="2400" dirty="0"/>
              <a:t> Movie ID, Title, Release Year, Duration, Type</a:t>
            </a:r>
            <a:br>
              <a:rPr lang="en-US" sz="2400" dirty="0"/>
            </a:br>
            <a:r>
              <a:rPr lang="en-US" sz="2400" b="1" dirty="0"/>
              <a:t>Constraints:</a:t>
            </a:r>
            <a:r>
              <a:rPr lang="en-US" sz="2400" dirty="0"/>
              <a:t> Type must be ‘Movie’ or ‘Series’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094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AE0D54-8B5F-D525-6C73-F8DB05804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178" y="583773"/>
            <a:ext cx="3230159" cy="1744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6BAE72-F80A-F143-95C0-7FBB4731E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178" y="2904117"/>
            <a:ext cx="3000483" cy="3506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666C14-4813-30CB-33B2-C8B440CCF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517" y="2990146"/>
            <a:ext cx="3000483" cy="34202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812FFF-E4B4-8D3F-1E41-7F4CC6141D32}"/>
              </a:ext>
            </a:extLst>
          </p:cNvPr>
          <p:cNvSpPr txBox="1"/>
          <p:nvPr/>
        </p:nvSpPr>
        <p:spPr>
          <a:xfrm>
            <a:off x="1395663" y="481263"/>
            <a:ext cx="542223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Genres Table:</a:t>
            </a:r>
          </a:p>
          <a:p>
            <a:r>
              <a:rPr lang="en-IN" sz="2400" dirty="0"/>
              <a:t>Stores movie genres.</a:t>
            </a:r>
            <a:br>
              <a:rPr lang="en-IN" sz="2400" dirty="0"/>
            </a:br>
            <a:r>
              <a:rPr lang="en-IN" sz="2400" b="1" dirty="0"/>
              <a:t>Fields:</a:t>
            </a:r>
            <a:r>
              <a:rPr lang="en-IN" sz="2400" dirty="0"/>
              <a:t> Genre ID, Genre Name</a:t>
            </a:r>
            <a:br>
              <a:rPr lang="en-IN" sz="2400" dirty="0"/>
            </a:br>
            <a:r>
              <a:rPr lang="en-IN" sz="2400" b="1" dirty="0"/>
              <a:t>Primary Key:</a:t>
            </a:r>
            <a:r>
              <a:rPr lang="en-IN" sz="2400" dirty="0"/>
              <a:t> Genre ID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4949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1467F-E994-AC9C-E05F-F34E97273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455" y="980492"/>
            <a:ext cx="4591691" cy="1676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1AFD9D-0C0F-31D3-5FDF-C9A1670BD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945" y="3500774"/>
            <a:ext cx="2762636" cy="2819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02416D-E861-97BF-EAEE-09E54F1F4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302" y="3500774"/>
            <a:ext cx="1714739" cy="3086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72D86F-FD05-F23B-0972-BAA2BA82D803}"/>
              </a:ext>
            </a:extLst>
          </p:cNvPr>
          <p:cNvSpPr txBox="1"/>
          <p:nvPr/>
        </p:nvSpPr>
        <p:spPr>
          <a:xfrm>
            <a:off x="1122947" y="713756"/>
            <a:ext cx="510139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Movie Genres Table:</a:t>
            </a:r>
          </a:p>
          <a:p>
            <a:r>
              <a:rPr lang="en-IN" sz="2000" dirty="0"/>
              <a:t>Many-to-Many table linking movies with genres.</a:t>
            </a:r>
            <a:br>
              <a:rPr lang="en-IN" sz="2000" dirty="0"/>
            </a:br>
            <a:r>
              <a:rPr lang="en-IN" sz="2000" b="1" dirty="0"/>
              <a:t>Fields:</a:t>
            </a:r>
            <a:r>
              <a:rPr lang="en-IN" sz="2000" dirty="0"/>
              <a:t> Movie ID, Genre ID</a:t>
            </a:r>
            <a:br>
              <a:rPr lang="en-IN" sz="2000" dirty="0"/>
            </a:br>
            <a:r>
              <a:rPr lang="en-IN" sz="2000" b="1" dirty="0"/>
              <a:t>Primary Key:</a:t>
            </a:r>
            <a:r>
              <a:rPr lang="en-IN" sz="2000" dirty="0"/>
              <a:t> (Movie ID, Genre ID)</a:t>
            </a:r>
            <a:br>
              <a:rPr lang="en-IN" sz="2000" dirty="0"/>
            </a:br>
            <a:r>
              <a:rPr lang="en-IN" sz="2000" b="1" dirty="0"/>
              <a:t>Foreign Keys:</a:t>
            </a:r>
            <a:r>
              <a:rPr lang="en-IN" sz="2000" dirty="0"/>
              <a:t> Movie ID → Movies(Movie ID), Genre ID → Genres(Genre ID)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920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8C81E-A868-2A2C-D209-8B33305D6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425" y="168719"/>
            <a:ext cx="4525006" cy="2248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3A7563-D118-C97D-577D-BD8BA15C7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45" y="2612012"/>
            <a:ext cx="4267766" cy="4077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20CF7C-D12D-983A-C739-BA0B6DE00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436" y="3009217"/>
            <a:ext cx="4267766" cy="3680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E05F65-E270-0CAD-E0ED-ABA3AB315EBF}"/>
              </a:ext>
            </a:extLst>
          </p:cNvPr>
          <p:cNvSpPr txBox="1"/>
          <p:nvPr/>
        </p:nvSpPr>
        <p:spPr>
          <a:xfrm>
            <a:off x="1138989" y="423894"/>
            <a:ext cx="51232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Views Table</a:t>
            </a:r>
          </a:p>
          <a:p>
            <a:r>
              <a:rPr lang="en-US" sz="2400" dirty="0"/>
              <a:t>Tracks movies watched by users.</a:t>
            </a:r>
            <a:br>
              <a:rPr lang="en-US" sz="2400" dirty="0"/>
            </a:br>
            <a:r>
              <a:rPr lang="en-US" sz="2400" b="1" dirty="0"/>
              <a:t>Fields:</a:t>
            </a:r>
            <a:r>
              <a:rPr lang="en-US" sz="2400" dirty="0"/>
              <a:t> View ID, User ID, Movie ID, View Date, Watch Time</a:t>
            </a:r>
            <a:br>
              <a:rPr lang="en-US" sz="2400" dirty="0"/>
            </a:br>
            <a:r>
              <a:rPr lang="en-US" sz="2400" b="1" dirty="0"/>
              <a:t>Foreign Keys:</a:t>
            </a:r>
            <a:r>
              <a:rPr lang="en-US" sz="2400" dirty="0"/>
              <a:t> User ID → Users(User ID), Movie ID → Movies(Movie ID)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411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16335E-5113-E3F6-A0ED-1A879CCF0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224" y="447514"/>
            <a:ext cx="4753638" cy="2305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3E60A9-F0E5-C7C4-A1A0-D0C78D0E3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662" y="3152481"/>
            <a:ext cx="2419688" cy="3258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DF8749-F901-5D8B-2878-1ABEFEF1E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311" y="3649786"/>
            <a:ext cx="3686689" cy="26292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11F0C3-BD3F-8635-C743-6020707ED730}"/>
              </a:ext>
            </a:extLst>
          </p:cNvPr>
          <p:cNvSpPr txBox="1"/>
          <p:nvPr/>
        </p:nvSpPr>
        <p:spPr>
          <a:xfrm>
            <a:off x="1251284" y="447514"/>
            <a:ext cx="484471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Ratings Table</a:t>
            </a:r>
          </a:p>
          <a:p>
            <a:r>
              <a:rPr lang="en-IN" sz="2400" dirty="0"/>
              <a:t>Stores user ratings for movies.</a:t>
            </a:r>
            <a:br>
              <a:rPr lang="en-IN" sz="2400" dirty="0"/>
            </a:br>
            <a:r>
              <a:rPr lang="en-IN" sz="2400" b="1" dirty="0"/>
              <a:t>Fields:</a:t>
            </a:r>
            <a:r>
              <a:rPr lang="en-IN" sz="2400" dirty="0"/>
              <a:t> Rating ID, User ID, Movie ID, Rating, Rating Date</a:t>
            </a:r>
            <a:br>
              <a:rPr lang="en-IN" sz="2400" dirty="0"/>
            </a:br>
            <a:r>
              <a:rPr lang="en-IN" sz="2400" b="1" dirty="0"/>
              <a:t>Constraints:</a:t>
            </a:r>
            <a:r>
              <a:rPr lang="en-IN" sz="2400" dirty="0"/>
              <a:t> Rating between 1 and 5</a:t>
            </a:r>
            <a:br>
              <a:rPr lang="en-IN" sz="2400" dirty="0"/>
            </a:br>
            <a:r>
              <a:rPr lang="en-IN" sz="2400" b="1" dirty="0"/>
              <a:t>Foreign Keys:</a:t>
            </a:r>
            <a:r>
              <a:rPr lang="en-IN" sz="2400" dirty="0"/>
              <a:t> User ID → Users(User ID), Movie ID → Movies(Movie ID)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971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2DB697-1815-9A9C-606D-94BDE586F5EE}"/>
              </a:ext>
            </a:extLst>
          </p:cNvPr>
          <p:cNvSpPr txBox="1"/>
          <p:nvPr/>
        </p:nvSpPr>
        <p:spPr>
          <a:xfrm>
            <a:off x="946484" y="513347"/>
            <a:ext cx="102509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Problem Statement:</a:t>
            </a:r>
          </a:p>
          <a:p>
            <a:endParaRPr lang="en-IN" sz="4000" b="1" dirty="0"/>
          </a:p>
          <a:p>
            <a:r>
              <a:rPr lang="en-IN" sz="3200" dirty="0"/>
              <a:t>1) </a:t>
            </a:r>
            <a:r>
              <a:rPr lang="en-US" sz="3200" dirty="0"/>
              <a:t>Find users from a specific country, e.g., India.</a:t>
            </a:r>
          </a:p>
          <a:p>
            <a:r>
              <a:rPr lang="en-US" dirty="0"/>
              <a:t>        </a:t>
            </a:r>
          </a:p>
          <a:p>
            <a:r>
              <a:rPr lang="en-US" sz="2800" dirty="0"/>
              <a:t>            SELECT * FROM Users WHERE Country='India’;</a:t>
            </a:r>
          </a:p>
          <a:p>
            <a:endParaRPr lang="en-US" sz="2800" dirty="0"/>
          </a:p>
          <a:p>
            <a:br>
              <a:rPr lang="en-US" dirty="0"/>
            </a:br>
            <a:endParaRPr lang="en-IN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861D2-7990-CC4F-E8E4-CABF94182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854" y="3429000"/>
            <a:ext cx="7154778" cy="164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5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FB0FF-92E6-97C4-766A-9013F0C4D7C9}"/>
              </a:ext>
            </a:extLst>
          </p:cNvPr>
          <p:cNvSpPr txBox="1"/>
          <p:nvPr/>
        </p:nvSpPr>
        <p:spPr>
          <a:xfrm>
            <a:off x="834189" y="577516"/>
            <a:ext cx="109567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3)</a:t>
            </a:r>
            <a:r>
              <a:rPr lang="en-US" sz="3200" b="1" dirty="0"/>
              <a:t> Count total number of users.</a:t>
            </a:r>
          </a:p>
          <a:p>
            <a:br>
              <a:rPr lang="en-US" sz="2400" dirty="0"/>
            </a:br>
            <a:r>
              <a:rPr lang="en-US" sz="2400" dirty="0"/>
              <a:t>            SELECT COUNT(*) AS </a:t>
            </a:r>
            <a:r>
              <a:rPr lang="en-US" sz="2400" dirty="0" err="1"/>
              <a:t>TotalUsers</a:t>
            </a:r>
            <a:r>
              <a:rPr lang="en-US" sz="2400" dirty="0"/>
              <a:t> FROM Users;</a:t>
            </a:r>
          </a:p>
          <a:p>
            <a:r>
              <a:rPr lang="en-IN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18733-C5DA-83D9-AB45-EDD539F8D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851" y="2126761"/>
            <a:ext cx="3258654" cy="13022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86C8A2-E7B4-D9DE-CE9D-11FA68D49CD0}"/>
              </a:ext>
            </a:extLst>
          </p:cNvPr>
          <p:cNvSpPr txBox="1"/>
          <p:nvPr/>
        </p:nvSpPr>
        <p:spPr>
          <a:xfrm>
            <a:off x="834189" y="3429000"/>
            <a:ext cx="105557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sz="3200" b="1" dirty="0"/>
              <a:t> 4) Find users who joined after 1st October 2024       </a:t>
            </a:r>
          </a:p>
          <a:p>
            <a:r>
              <a:rPr lang="en-US" sz="2400" dirty="0"/>
              <a:t>                </a:t>
            </a:r>
          </a:p>
          <a:p>
            <a:r>
              <a:rPr lang="en-US" sz="2400" dirty="0"/>
              <a:t>                    SELECT * FROM Users WHERE </a:t>
            </a:r>
            <a:r>
              <a:rPr lang="en-US" sz="2400" dirty="0" err="1"/>
              <a:t>JoinDate</a:t>
            </a:r>
            <a:r>
              <a:rPr lang="en-US" sz="2400" dirty="0"/>
              <a:t> &gt; '2024-10-01';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15520E-E7A2-0ABD-0384-2195A9ACE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357" y="5261811"/>
            <a:ext cx="5313514" cy="136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65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D9981D-930E-F3B5-DA90-337B4731229F}"/>
              </a:ext>
            </a:extLst>
          </p:cNvPr>
          <p:cNvSpPr txBox="1"/>
          <p:nvPr/>
        </p:nvSpPr>
        <p:spPr>
          <a:xfrm>
            <a:off x="1588169" y="529390"/>
            <a:ext cx="10202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90C1B-B6BB-CE76-0216-25B66DF415A2}"/>
              </a:ext>
            </a:extLst>
          </p:cNvPr>
          <p:cNvSpPr txBox="1"/>
          <p:nvPr/>
        </p:nvSpPr>
        <p:spPr>
          <a:xfrm>
            <a:off x="946484" y="529390"/>
            <a:ext cx="10363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5)Users with Gmail email</a:t>
            </a:r>
          </a:p>
          <a:p>
            <a:r>
              <a:rPr lang="en-US" sz="2800" dirty="0"/>
              <a:t>            SELECT * FROM Users WHERE Email LIKE '%mail.com';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0E3940-210D-5102-8221-C24263172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865" y="1586503"/>
            <a:ext cx="4525006" cy="23053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6F31A6-156A-397E-EC39-28673A36A3AD}"/>
              </a:ext>
            </a:extLst>
          </p:cNvPr>
          <p:cNvSpPr txBox="1"/>
          <p:nvPr/>
        </p:nvSpPr>
        <p:spPr>
          <a:xfrm>
            <a:off x="946484" y="4042611"/>
            <a:ext cx="103632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6)Count users per plan</a:t>
            </a:r>
            <a:endParaRPr lang="en-US" sz="3200" dirty="0"/>
          </a:p>
          <a:p>
            <a:r>
              <a:rPr lang="en-US" sz="2800" dirty="0"/>
              <a:t>    SELECT </a:t>
            </a:r>
            <a:r>
              <a:rPr lang="en-US" sz="2800" dirty="0" err="1"/>
              <a:t>PlanID</a:t>
            </a:r>
            <a:r>
              <a:rPr lang="en-US" sz="2800" dirty="0"/>
              <a:t>, COUNT(*) AS </a:t>
            </a:r>
            <a:r>
              <a:rPr lang="en-US" sz="2800" dirty="0" err="1"/>
              <a:t>UsersCount</a:t>
            </a:r>
            <a:r>
              <a:rPr lang="en-US" sz="2800" dirty="0"/>
              <a:t> FROM Subscriptions GROUP BY </a:t>
            </a:r>
            <a:r>
              <a:rPr lang="en-US" sz="2800" dirty="0" err="1"/>
              <a:t>PlanID</a:t>
            </a:r>
            <a:r>
              <a:rPr lang="en-US" sz="2800" dirty="0"/>
              <a:t>;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398B98-8A44-8EB4-4DC9-A37885B2C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011" y="5395029"/>
            <a:ext cx="2183112" cy="116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75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875547-9C81-FC24-6C4C-D2383D977E27}"/>
              </a:ext>
            </a:extLst>
          </p:cNvPr>
          <p:cNvSpPr txBox="1"/>
          <p:nvPr/>
        </p:nvSpPr>
        <p:spPr>
          <a:xfrm>
            <a:off x="1026693" y="355905"/>
            <a:ext cx="1021882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7)Users in Premium plan</a:t>
            </a:r>
          </a:p>
          <a:p>
            <a:r>
              <a:rPr lang="en-IN" sz="2800" dirty="0"/>
              <a:t>SELECT </a:t>
            </a:r>
            <a:r>
              <a:rPr lang="en-IN" sz="2800" dirty="0" err="1"/>
              <a:t>u.UserName</a:t>
            </a:r>
            <a:r>
              <a:rPr lang="en-IN" sz="2800" dirty="0"/>
              <a:t>, </a:t>
            </a:r>
            <a:r>
              <a:rPr lang="en-IN" sz="2800" dirty="0" err="1"/>
              <a:t>p.PlanName</a:t>
            </a:r>
            <a:r>
              <a:rPr lang="en-IN" sz="2800" dirty="0"/>
              <a:t> </a:t>
            </a:r>
          </a:p>
          <a:p>
            <a:r>
              <a:rPr lang="en-IN" sz="2800" dirty="0"/>
              <a:t>FROM Users u </a:t>
            </a:r>
          </a:p>
          <a:p>
            <a:r>
              <a:rPr lang="en-IN" sz="2800" dirty="0"/>
              <a:t>INNER JOIN Subscriptions s ON </a:t>
            </a:r>
            <a:r>
              <a:rPr lang="en-IN" sz="2800" dirty="0" err="1"/>
              <a:t>u.UserID</a:t>
            </a:r>
            <a:r>
              <a:rPr lang="en-IN" sz="2800" dirty="0"/>
              <a:t> = </a:t>
            </a:r>
            <a:r>
              <a:rPr lang="en-IN" sz="2800" dirty="0" err="1"/>
              <a:t>s.UserID</a:t>
            </a:r>
            <a:r>
              <a:rPr lang="en-IN" sz="2800" dirty="0"/>
              <a:t> </a:t>
            </a:r>
          </a:p>
          <a:p>
            <a:r>
              <a:rPr lang="en-IN" sz="2800" dirty="0"/>
              <a:t>INNER JOIN Plans p ON </a:t>
            </a:r>
            <a:r>
              <a:rPr lang="en-IN" sz="2800" dirty="0" err="1"/>
              <a:t>s.PlanID</a:t>
            </a:r>
            <a:r>
              <a:rPr lang="en-IN" sz="2800" dirty="0"/>
              <a:t> = </a:t>
            </a:r>
            <a:r>
              <a:rPr lang="en-IN" sz="2800" dirty="0" err="1"/>
              <a:t>p.PlanID</a:t>
            </a:r>
            <a:r>
              <a:rPr lang="en-IN" sz="2800" dirty="0"/>
              <a:t> </a:t>
            </a:r>
          </a:p>
          <a:p>
            <a:r>
              <a:rPr lang="en-IN" sz="2800" dirty="0"/>
              <a:t>WHERE </a:t>
            </a:r>
            <a:r>
              <a:rPr lang="en-IN" sz="2800" dirty="0" err="1"/>
              <a:t>p.PlanName</a:t>
            </a:r>
            <a:r>
              <a:rPr lang="en-IN" sz="2800" dirty="0"/>
              <a:t>='Premium';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AFDD2-F238-07AF-C57B-19D445F94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346" y="699600"/>
            <a:ext cx="1962424" cy="1133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76C37F-F246-36B7-C940-0DC850712D47}"/>
              </a:ext>
            </a:extLst>
          </p:cNvPr>
          <p:cNvSpPr txBox="1"/>
          <p:nvPr/>
        </p:nvSpPr>
        <p:spPr>
          <a:xfrm>
            <a:off x="1171071" y="3523039"/>
            <a:ext cx="993006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8)Active subscriptions today</a:t>
            </a:r>
          </a:p>
          <a:p>
            <a:r>
              <a:rPr lang="en-US" sz="2800" dirty="0"/>
              <a:t>SELECT * FROM Subscriptions WHERE CURDATE() BETWEEN StartDate AND </a:t>
            </a:r>
            <a:r>
              <a:rPr lang="en-US" sz="2800" dirty="0" err="1"/>
              <a:t>EndDate</a:t>
            </a:r>
            <a:r>
              <a:rPr lang="en-US" sz="2800" dirty="0"/>
              <a:t>;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8ADB8D-AACE-275E-72FC-EA1723E87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869" y="4644461"/>
            <a:ext cx="4248743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88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DD813-7359-4C5C-BAF4-F86C16C9D0BA}"/>
              </a:ext>
            </a:extLst>
          </p:cNvPr>
          <p:cNvSpPr txBox="1"/>
          <p:nvPr/>
        </p:nvSpPr>
        <p:spPr>
          <a:xfrm>
            <a:off x="962526" y="689811"/>
            <a:ext cx="1034715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9)Count movies per type</a:t>
            </a:r>
          </a:p>
          <a:p>
            <a:r>
              <a:rPr lang="en-US" sz="2800" dirty="0"/>
              <a:t>SELECT Type, COUNT(*) AS Total FROM Movies GROUP BY Type;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BBD08-9A9C-F19A-A5B4-7588E5B22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09" y="1920916"/>
            <a:ext cx="2061602" cy="12311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97E36F-99A1-51B3-F9AB-AC5A69630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618" y="3967543"/>
            <a:ext cx="2133898" cy="1771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BCC535-B0BC-2E63-B296-4DD013C12742}"/>
              </a:ext>
            </a:extLst>
          </p:cNvPr>
          <p:cNvSpPr txBox="1"/>
          <p:nvPr/>
        </p:nvSpPr>
        <p:spPr>
          <a:xfrm>
            <a:off x="1395663" y="3705980"/>
            <a:ext cx="102348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10)Count movies per genre</a:t>
            </a:r>
          </a:p>
          <a:p>
            <a:r>
              <a:rPr lang="en-IN" sz="2800" dirty="0"/>
              <a:t>SELECT </a:t>
            </a:r>
            <a:r>
              <a:rPr lang="en-IN" sz="2800" dirty="0" err="1"/>
              <a:t>g.GenreName</a:t>
            </a:r>
            <a:r>
              <a:rPr lang="en-IN" sz="2800" dirty="0"/>
              <a:t>, COUNT(*) AS </a:t>
            </a:r>
            <a:r>
              <a:rPr lang="en-IN" sz="2800" dirty="0" err="1"/>
              <a:t>MovieCount</a:t>
            </a:r>
            <a:r>
              <a:rPr lang="en-IN" sz="2800" dirty="0"/>
              <a:t> </a:t>
            </a:r>
          </a:p>
          <a:p>
            <a:r>
              <a:rPr lang="en-IN" sz="2800" dirty="0"/>
              <a:t>FROM </a:t>
            </a:r>
            <a:r>
              <a:rPr lang="en-IN" sz="2800" dirty="0" err="1"/>
              <a:t>MovieGenres</a:t>
            </a:r>
            <a:r>
              <a:rPr lang="en-IN" sz="2800" dirty="0"/>
              <a:t> mg </a:t>
            </a:r>
          </a:p>
          <a:p>
            <a:r>
              <a:rPr lang="en-IN" sz="2800" dirty="0"/>
              <a:t>INNER JOIN Genres g ON </a:t>
            </a:r>
            <a:r>
              <a:rPr lang="en-IN" sz="2800" dirty="0" err="1"/>
              <a:t>mg.GenreID</a:t>
            </a:r>
            <a:r>
              <a:rPr lang="en-IN" sz="2800" dirty="0"/>
              <a:t>=</a:t>
            </a:r>
            <a:r>
              <a:rPr lang="en-IN" sz="2800" dirty="0" err="1"/>
              <a:t>g.GenreID</a:t>
            </a:r>
            <a:r>
              <a:rPr lang="en-IN" sz="2800" dirty="0"/>
              <a:t> </a:t>
            </a:r>
          </a:p>
          <a:p>
            <a:r>
              <a:rPr lang="en-IN" sz="2800" dirty="0"/>
              <a:t>GROUP BY </a:t>
            </a:r>
            <a:r>
              <a:rPr lang="en-IN" sz="2800" dirty="0" err="1"/>
              <a:t>g.GenreName</a:t>
            </a:r>
            <a:r>
              <a:rPr lang="en-IN" sz="2800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135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2D07ED-4B3E-1DD0-9893-F6B7848FB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485" y="251936"/>
            <a:ext cx="2525406" cy="1906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3431A4-E263-A525-543D-8DA474C6DCAD}"/>
              </a:ext>
            </a:extLst>
          </p:cNvPr>
          <p:cNvSpPr txBox="1"/>
          <p:nvPr/>
        </p:nvSpPr>
        <p:spPr>
          <a:xfrm>
            <a:off x="1122946" y="974725"/>
            <a:ext cx="104594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11)Movies of Fantasy genre</a:t>
            </a:r>
          </a:p>
          <a:p>
            <a:r>
              <a:rPr lang="en-IN" sz="2800" dirty="0"/>
              <a:t>SELECT </a:t>
            </a:r>
            <a:r>
              <a:rPr lang="en-IN" sz="2800" dirty="0" err="1"/>
              <a:t>m.Title</a:t>
            </a:r>
            <a:r>
              <a:rPr lang="en-IN" sz="2800" dirty="0"/>
              <a:t> </a:t>
            </a:r>
          </a:p>
          <a:p>
            <a:r>
              <a:rPr lang="en-IN" sz="2800" dirty="0"/>
              <a:t>FROM Movies m </a:t>
            </a:r>
          </a:p>
          <a:p>
            <a:r>
              <a:rPr lang="en-IN" sz="2800" dirty="0"/>
              <a:t>INNER JOIN </a:t>
            </a:r>
            <a:r>
              <a:rPr lang="en-IN" sz="2800" dirty="0" err="1"/>
              <a:t>MovieGenres</a:t>
            </a:r>
            <a:r>
              <a:rPr lang="en-IN" sz="2800" dirty="0"/>
              <a:t> mg ON </a:t>
            </a:r>
            <a:r>
              <a:rPr lang="en-IN" sz="2800" dirty="0" err="1"/>
              <a:t>m.MovieID</a:t>
            </a:r>
            <a:r>
              <a:rPr lang="en-IN" sz="2800" dirty="0"/>
              <a:t> = </a:t>
            </a:r>
            <a:r>
              <a:rPr lang="en-IN" sz="2800" dirty="0" err="1"/>
              <a:t>mg.MovieID</a:t>
            </a:r>
            <a:r>
              <a:rPr lang="en-IN" sz="2800" dirty="0"/>
              <a:t> </a:t>
            </a:r>
          </a:p>
          <a:p>
            <a:r>
              <a:rPr lang="en-IN" sz="2800" dirty="0"/>
              <a:t>WHERE </a:t>
            </a:r>
            <a:r>
              <a:rPr lang="en-IN" sz="2800" dirty="0" err="1"/>
              <a:t>mg.GenreID</a:t>
            </a:r>
            <a:r>
              <a:rPr lang="en-IN" sz="2800" dirty="0"/>
              <a:t>=5;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CA88E5-6A01-A909-DFC6-FBEF6E0BE322}"/>
              </a:ext>
            </a:extLst>
          </p:cNvPr>
          <p:cNvSpPr txBox="1"/>
          <p:nvPr/>
        </p:nvSpPr>
        <p:spPr>
          <a:xfrm>
            <a:off x="1122946" y="4221282"/>
            <a:ext cx="960922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12)Total views per movie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MovieID</a:t>
            </a:r>
            <a:r>
              <a:rPr lang="en-US" sz="2800" dirty="0"/>
              <a:t>, COUNT(*) AS Views FROM Views GROUP BY </a:t>
            </a:r>
            <a:r>
              <a:rPr lang="en-US" sz="2800" dirty="0" err="1"/>
              <a:t>MovieID</a:t>
            </a:r>
            <a:r>
              <a:rPr lang="en-US" sz="2800" dirty="0"/>
              <a:t>;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A12B66-4147-D45E-E875-CA3419AF2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1205" y="3847197"/>
            <a:ext cx="1581371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74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3D86E-E65A-1CA2-AAC1-942EF1DA36E0}"/>
              </a:ext>
            </a:extLst>
          </p:cNvPr>
          <p:cNvSpPr txBox="1"/>
          <p:nvPr/>
        </p:nvSpPr>
        <p:spPr>
          <a:xfrm>
            <a:off x="994611" y="609600"/>
            <a:ext cx="10154652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13)Movies watched by Alice</a:t>
            </a:r>
          </a:p>
          <a:p>
            <a:r>
              <a:rPr lang="en-IN" sz="2800" dirty="0"/>
              <a:t>SELECT </a:t>
            </a:r>
            <a:r>
              <a:rPr lang="en-IN" sz="2800" dirty="0" err="1"/>
              <a:t>m.Title</a:t>
            </a:r>
            <a:r>
              <a:rPr lang="en-IN" sz="2800" dirty="0"/>
              <a:t> </a:t>
            </a:r>
          </a:p>
          <a:p>
            <a:r>
              <a:rPr lang="en-IN" sz="2800" dirty="0"/>
              <a:t>FROM Views v </a:t>
            </a:r>
          </a:p>
          <a:p>
            <a:r>
              <a:rPr lang="en-IN" sz="2800" dirty="0"/>
              <a:t>INNER JOIN Users u ON </a:t>
            </a:r>
            <a:r>
              <a:rPr lang="en-IN" sz="2800" dirty="0" err="1"/>
              <a:t>v.UserID</a:t>
            </a:r>
            <a:r>
              <a:rPr lang="en-IN" sz="2800" dirty="0"/>
              <a:t>=</a:t>
            </a:r>
            <a:r>
              <a:rPr lang="en-IN" sz="2800" dirty="0" err="1"/>
              <a:t>u.UserID</a:t>
            </a:r>
            <a:r>
              <a:rPr lang="en-IN" sz="2800" dirty="0"/>
              <a:t> </a:t>
            </a:r>
          </a:p>
          <a:p>
            <a:r>
              <a:rPr lang="en-IN" sz="2800" dirty="0"/>
              <a:t>INNER JOIN Movies m ON </a:t>
            </a:r>
            <a:r>
              <a:rPr lang="en-IN" sz="2800" dirty="0" err="1"/>
              <a:t>v.MovieID</a:t>
            </a:r>
            <a:r>
              <a:rPr lang="en-IN" sz="2800" dirty="0"/>
              <a:t>=</a:t>
            </a:r>
            <a:r>
              <a:rPr lang="en-IN" sz="2800" dirty="0" err="1"/>
              <a:t>m.MovieID</a:t>
            </a:r>
            <a:r>
              <a:rPr lang="en-IN" sz="2800" dirty="0"/>
              <a:t> </a:t>
            </a:r>
          </a:p>
          <a:p>
            <a:r>
              <a:rPr lang="en-IN" sz="2800" dirty="0"/>
              <a:t>WHERE </a:t>
            </a:r>
            <a:r>
              <a:rPr lang="en-IN" sz="2800" dirty="0" err="1"/>
              <a:t>u.UserName</a:t>
            </a:r>
            <a:r>
              <a:rPr lang="en-IN" sz="2800" dirty="0"/>
              <a:t>='Alice’;</a:t>
            </a:r>
          </a:p>
          <a:p>
            <a:endParaRPr lang="en-IN" sz="2800" dirty="0"/>
          </a:p>
          <a:p>
            <a:endParaRPr lang="en-US" sz="2800" b="1" dirty="0"/>
          </a:p>
          <a:p>
            <a:r>
              <a:rPr lang="en-US" sz="3200" b="1" dirty="0"/>
              <a:t>14)Total watch time per user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UserID</a:t>
            </a:r>
            <a:r>
              <a:rPr lang="en-US" sz="2800" dirty="0"/>
              <a:t>, SUM(</a:t>
            </a:r>
            <a:r>
              <a:rPr lang="en-US" sz="2800" dirty="0" err="1"/>
              <a:t>WatchTime</a:t>
            </a:r>
            <a:r>
              <a:rPr lang="en-US" sz="2800" dirty="0"/>
              <a:t>) AS </a:t>
            </a:r>
            <a:r>
              <a:rPr lang="en-US" sz="2800" dirty="0" err="1"/>
              <a:t>TotalWatchTime</a:t>
            </a:r>
            <a:r>
              <a:rPr lang="en-US" sz="2800" dirty="0"/>
              <a:t> </a:t>
            </a:r>
          </a:p>
          <a:p>
            <a:r>
              <a:rPr lang="en-US" sz="2800" dirty="0"/>
              <a:t>FROM Views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UserID</a:t>
            </a:r>
            <a:r>
              <a:rPr lang="en-US" sz="2800" dirty="0"/>
              <a:t>;</a:t>
            </a:r>
          </a:p>
          <a:p>
            <a:endParaRPr lang="en-IN" sz="28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97A732-DD98-9CB2-F62A-3B3E681BB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242" y="609600"/>
            <a:ext cx="1797069" cy="1476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164A3E-6BF3-984E-1CB8-C0ACD871A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944" y="3808766"/>
            <a:ext cx="2105319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30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AE265A-82AF-9CE9-2500-5C3169689653}"/>
              </a:ext>
            </a:extLst>
          </p:cNvPr>
          <p:cNvSpPr txBox="1"/>
          <p:nvPr/>
        </p:nvSpPr>
        <p:spPr>
          <a:xfrm>
            <a:off x="802106" y="577516"/>
            <a:ext cx="1031507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15)Users who watched more than 2 movies</a:t>
            </a:r>
          </a:p>
          <a:p>
            <a:r>
              <a:rPr lang="en-US" sz="2800" dirty="0"/>
              <a:t>           SELECT </a:t>
            </a:r>
            <a:r>
              <a:rPr lang="en-US" sz="2800" dirty="0" err="1"/>
              <a:t>UserID</a:t>
            </a:r>
            <a:r>
              <a:rPr lang="en-US" sz="2800" dirty="0"/>
              <a:t>, COUNT(*) AS </a:t>
            </a:r>
            <a:r>
              <a:rPr lang="en-US" sz="2800" dirty="0" err="1"/>
              <a:t>MovieCount</a:t>
            </a:r>
            <a:r>
              <a:rPr lang="en-US" sz="2800" dirty="0"/>
              <a:t> FROM Views GROUP BY </a:t>
            </a:r>
            <a:r>
              <a:rPr lang="en-US" sz="2800" dirty="0" err="1"/>
              <a:t>UserID</a:t>
            </a:r>
            <a:r>
              <a:rPr lang="en-US" sz="2800" dirty="0"/>
              <a:t> HAVING COUNT(*)&gt;2;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IN" sz="3200" b="1" dirty="0"/>
              <a:t>16)Most-watched movie</a:t>
            </a:r>
            <a:endParaRPr lang="en-US" sz="3200" b="1" dirty="0"/>
          </a:p>
          <a:p>
            <a:r>
              <a:rPr lang="en-US" sz="2800" dirty="0"/>
              <a:t>           SELECT </a:t>
            </a:r>
            <a:r>
              <a:rPr lang="en-US" sz="2800" dirty="0" err="1"/>
              <a:t>MovieID</a:t>
            </a:r>
            <a:r>
              <a:rPr lang="en-US" sz="2800" dirty="0"/>
              <a:t>, COUNT(*) AS Views FROM Views GROUP BY </a:t>
            </a:r>
            <a:r>
              <a:rPr lang="en-US" sz="2800" dirty="0" err="1"/>
              <a:t>MovieID</a:t>
            </a:r>
            <a:r>
              <a:rPr lang="en-US" sz="2800" dirty="0"/>
              <a:t> ORDER BY Views DESC LIMIT 1;</a:t>
            </a:r>
          </a:p>
          <a:p>
            <a:endParaRPr lang="en-US" sz="28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7F5F0-E6E9-459D-8126-430D31C48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642" y="1788222"/>
            <a:ext cx="2319470" cy="902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9C6F40-68C6-9771-BC35-4049D5CCA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643" y="5256685"/>
            <a:ext cx="2319469" cy="102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21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034295-AD93-181A-D274-5F311E96A93D}"/>
              </a:ext>
            </a:extLst>
          </p:cNvPr>
          <p:cNvSpPr txBox="1"/>
          <p:nvPr/>
        </p:nvSpPr>
        <p:spPr>
          <a:xfrm>
            <a:off x="978568" y="641684"/>
            <a:ext cx="10138611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17)Average rating of all movies</a:t>
            </a:r>
          </a:p>
          <a:p>
            <a:r>
              <a:rPr lang="en-US" sz="2800" dirty="0"/>
              <a:t>SELECT AVG(Rating) AS </a:t>
            </a:r>
            <a:r>
              <a:rPr lang="en-US" sz="2800" dirty="0" err="1"/>
              <a:t>AvgRating</a:t>
            </a:r>
            <a:r>
              <a:rPr lang="en-US" sz="2800" dirty="0"/>
              <a:t> FROM Ratings;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IN" sz="3200" b="1" dirty="0"/>
              <a:t>18)Average rating per movie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MovieID</a:t>
            </a:r>
            <a:r>
              <a:rPr lang="en-US" sz="2800" dirty="0"/>
              <a:t>, AVG(Rating) AS </a:t>
            </a:r>
            <a:r>
              <a:rPr lang="en-US" sz="2800" dirty="0" err="1"/>
              <a:t>AvgRating</a:t>
            </a:r>
            <a:r>
              <a:rPr lang="en-US" sz="2800" dirty="0"/>
              <a:t> FROM Ratings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MovieID</a:t>
            </a:r>
            <a:r>
              <a:rPr lang="en-US" sz="2800" dirty="0"/>
              <a:t>;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IN" sz="3200" b="1" dirty="0"/>
              <a:t>19)Movies with above-average rating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MovieID</a:t>
            </a:r>
            <a:r>
              <a:rPr lang="en-US" sz="2800" dirty="0"/>
              <a:t> FROM Ratings GROUP BY </a:t>
            </a:r>
            <a:r>
              <a:rPr lang="en-US" sz="2800" dirty="0" err="1"/>
              <a:t>MovieID</a:t>
            </a:r>
            <a:r>
              <a:rPr lang="en-US" sz="2800" dirty="0"/>
              <a:t> HAVING AVG(Rating) &gt; (SELECT AVG(Rating) FROM Ratings);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B551F-8DA3-F3AB-F2D9-DE1755447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074" y="497445"/>
            <a:ext cx="2141331" cy="1106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D78E8-9677-9A8C-3869-4658C390E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611" y="2353530"/>
            <a:ext cx="2141331" cy="2381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39CE19-19DA-866C-C1C9-411EB8D05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227" y="5040072"/>
            <a:ext cx="1403833" cy="163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64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A18F9A-AA5D-F9C0-F51B-77909B21B596}"/>
              </a:ext>
            </a:extLst>
          </p:cNvPr>
          <p:cNvSpPr txBox="1"/>
          <p:nvPr/>
        </p:nvSpPr>
        <p:spPr>
          <a:xfrm>
            <a:off x="914400" y="449179"/>
            <a:ext cx="10507579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20)Highest-rated movie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MovieID</a:t>
            </a:r>
            <a:r>
              <a:rPr lang="en-US" sz="2800" dirty="0"/>
              <a:t>, AVG(Rating) AS </a:t>
            </a:r>
            <a:r>
              <a:rPr lang="en-US" sz="2800" dirty="0" err="1"/>
              <a:t>AvgRating</a:t>
            </a:r>
            <a:r>
              <a:rPr lang="en-US" sz="2800" dirty="0"/>
              <a:t> FROM Ratings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MovieID</a:t>
            </a:r>
            <a:r>
              <a:rPr lang="en-US" sz="2800" dirty="0"/>
              <a:t> ORDER BY </a:t>
            </a:r>
            <a:r>
              <a:rPr lang="en-US" sz="2800" dirty="0" err="1"/>
              <a:t>AvgRating</a:t>
            </a:r>
            <a:r>
              <a:rPr lang="en-US" sz="2800" dirty="0"/>
              <a:t> DESC LIMIT 1;</a:t>
            </a:r>
          </a:p>
          <a:p>
            <a:endParaRPr lang="en-US" sz="2800" dirty="0"/>
          </a:p>
          <a:p>
            <a:r>
              <a:rPr lang="en-US" sz="3200" b="1" dirty="0"/>
              <a:t>21)Users who gave 5-star rating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UserID</a:t>
            </a:r>
            <a:r>
              <a:rPr lang="en-US" sz="2800" dirty="0"/>
              <a:t>, </a:t>
            </a:r>
            <a:r>
              <a:rPr lang="en-US" sz="2800" dirty="0" err="1"/>
              <a:t>MovieID</a:t>
            </a:r>
            <a:r>
              <a:rPr lang="en-US" sz="2800" dirty="0"/>
              <a:t> FROM Ratings WHERE Rating=5;</a:t>
            </a:r>
          </a:p>
          <a:p>
            <a:endParaRPr lang="en-US" sz="2800" dirty="0"/>
          </a:p>
          <a:p>
            <a:endParaRPr lang="en-IN" sz="3200" b="1" dirty="0"/>
          </a:p>
          <a:p>
            <a:r>
              <a:rPr lang="en-IN" sz="3200" b="1" dirty="0"/>
              <a:t>22)Movies and their genres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m.Title</a:t>
            </a:r>
            <a:r>
              <a:rPr lang="en-US" sz="2800" dirty="0"/>
              <a:t>, </a:t>
            </a:r>
            <a:r>
              <a:rPr lang="en-US" sz="2800" dirty="0" err="1"/>
              <a:t>g.GenreName</a:t>
            </a:r>
            <a:r>
              <a:rPr lang="en-US" sz="2800" dirty="0"/>
              <a:t> </a:t>
            </a:r>
          </a:p>
          <a:p>
            <a:r>
              <a:rPr lang="en-US" sz="2800" dirty="0"/>
              <a:t>FROM Movies m </a:t>
            </a:r>
          </a:p>
          <a:p>
            <a:r>
              <a:rPr lang="en-US" sz="2800" dirty="0"/>
              <a:t>INNER JOIN </a:t>
            </a:r>
            <a:r>
              <a:rPr lang="en-US" sz="2800" dirty="0" err="1"/>
              <a:t>MovieGenres</a:t>
            </a:r>
            <a:r>
              <a:rPr lang="en-US" sz="2800" dirty="0"/>
              <a:t> mg ON </a:t>
            </a:r>
            <a:r>
              <a:rPr lang="en-US" sz="2800" dirty="0" err="1"/>
              <a:t>m.MovieID</a:t>
            </a:r>
            <a:r>
              <a:rPr lang="en-US" sz="2800" dirty="0"/>
              <a:t> = </a:t>
            </a:r>
            <a:r>
              <a:rPr lang="en-US" sz="2800" dirty="0" err="1"/>
              <a:t>mg.MovieID</a:t>
            </a:r>
            <a:r>
              <a:rPr lang="en-US" sz="2800" dirty="0"/>
              <a:t> </a:t>
            </a:r>
          </a:p>
          <a:p>
            <a:r>
              <a:rPr lang="en-US" sz="2800" dirty="0"/>
              <a:t>INNER JOIN Genres g ON </a:t>
            </a:r>
            <a:r>
              <a:rPr lang="en-US" sz="2800" dirty="0" err="1"/>
              <a:t>mg.GenreID</a:t>
            </a:r>
            <a:r>
              <a:rPr lang="en-US" sz="2800" dirty="0"/>
              <a:t> = </a:t>
            </a:r>
            <a:r>
              <a:rPr lang="en-US" sz="2800" dirty="0" err="1"/>
              <a:t>g.GenreID</a:t>
            </a:r>
            <a:r>
              <a:rPr lang="en-US" sz="2800" dirty="0"/>
              <a:t>;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08516-909A-E2AC-D904-9811937D8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9636" y="709686"/>
            <a:ext cx="2215690" cy="1054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83EB56-A3F2-50B8-8540-9F80F5382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513" y="2374054"/>
            <a:ext cx="1795140" cy="10549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13869F-B4AC-3635-6497-85A77C7DD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428" y="3521524"/>
            <a:ext cx="2314898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46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8E2A7-262D-716C-C557-D658CFC43895}"/>
              </a:ext>
            </a:extLst>
          </p:cNvPr>
          <p:cNvSpPr txBox="1"/>
          <p:nvPr/>
        </p:nvSpPr>
        <p:spPr>
          <a:xfrm>
            <a:off x="834189" y="609600"/>
            <a:ext cx="10651958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23)Users and their subscriptions</a:t>
            </a:r>
          </a:p>
          <a:p>
            <a:r>
              <a:rPr lang="en-IN" sz="2800" dirty="0"/>
              <a:t>SELECT </a:t>
            </a:r>
            <a:r>
              <a:rPr lang="en-IN" sz="2800" dirty="0" err="1"/>
              <a:t>u.UserName</a:t>
            </a:r>
            <a:r>
              <a:rPr lang="en-IN" sz="2800" dirty="0"/>
              <a:t>, </a:t>
            </a:r>
            <a:r>
              <a:rPr lang="en-IN" sz="2800" dirty="0" err="1"/>
              <a:t>s.PlanID</a:t>
            </a:r>
            <a:r>
              <a:rPr lang="en-IN" sz="2800" dirty="0"/>
              <a:t> </a:t>
            </a:r>
          </a:p>
          <a:p>
            <a:r>
              <a:rPr lang="en-IN" sz="2800" dirty="0"/>
              <a:t>FROM Users u </a:t>
            </a:r>
          </a:p>
          <a:p>
            <a:r>
              <a:rPr lang="en-IN" sz="2800" dirty="0"/>
              <a:t>INNER JOIN Subscriptions s ON </a:t>
            </a:r>
            <a:r>
              <a:rPr lang="en-IN" sz="2800" dirty="0" err="1"/>
              <a:t>u.UserID</a:t>
            </a:r>
            <a:r>
              <a:rPr lang="en-IN" sz="2800" dirty="0"/>
              <a:t> = </a:t>
            </a:r>
            <a:r>
              <a:rPr lang="en-IN" sz="2800" dirty="0" err="1"/>
              <a:t>s.UserID</a:t>
            </a:r>
            <a:r>
              <a:rPr lang="en-IN" sz="2800" dirty="0"/>
              <a:t>;</a:t>
            </a:r>
          </a:p>
          <a:p>
            <a:endParaRPr lang="en-IN" sz="2800" dirty="0"/>
          </a:p>
          <a:p>
            <a:endParaRPr lang="en-US" sz="3200" b="1" dirty="0"/>
          </a:p>
          <a:p>
            <a:r>
              <a:rPr lang="en-US" sz="3200" b="1" dirty="0"/>
              <a:t>24)Movies watched by a user with rating</a:t>
            </a:r>
          </a:p>
          <a:p>
            <a:r>
              <a:rPr lang="en-IN" sz="2800" dirty="0"/>
              <a:t>SELECT </a:t>
            </a:r>
            <a:r>
              <a:rPr lang="en-IN" sz="2800" dirty="0" err="1"/>
              <a:t>u.UserName</a:t>
            </a:r>
            <a:r>
              <a:rPr lang="en-IN" sz="2800" dirty="0"/>
              <a:t>, </a:t>
            </a:r>
            <a:r>
              <a:rPr lang="en-IN" sz="2800" dirty="0" err="1"/>
              <a:t>m.Title</a:t>
            </a:r>
            <a:r>
              <a:rPr lang="en-IN" sz="2800" dirty="0"/>
              <a:t>, </a:t>
            </a:r>
            <a:r>
              <a:rPr lang="en-IN" sz="2800" dirty="0" err="1"/>
              <a:t>r.Rating</a:t>
            </a:r>
            <a:r>
              <a:rPr lang="en-IN" sz="2800" dirty="0"/>
              <a:t> </a:t>
            </a:r>
          </a:p>
          <a:p>
            <a:r>
              <a:rPr lang="en-IN" sz="2800" dirty="0"/>
              <a:t>FROM Users u </a:t>
            </a:r>
          </a:p>
          <a:p>
            <a:r>
              <a:rPr lang="en-IN" sz="2800" dirty="0"/>
              <a:t>INNER JOIN Ratings r ON </a:t>
            </a:r>
            <a:r>
              <a:rPr lang="en-IN" sz="2800" dirty="0" err="1"/>
              <a:t>u.UserID</a:t>
            </a:r>
            <a:r>
              <a:rPr lang="en-IN" sz="2800" dirty="0"/>
              <a:t>=</a:t>
            </a:r>
            <a:r>
              <a:rPr lang="en-IN" sz="2800" dirty="0" err="1"/>
              <a:t>r.UserID</a:t>
            </a:r>
            <a:r>
              <a:rPr lang="en-IN" sz="2800" dirty="0"/>
              <a:t> </a:t>
            </a:r>
          </a:p>
          <a:p>
            <a:r>
              <a:rPr lang="en-IN" sz="2800" dirty="0"/>
              <a:t>INNER JOIN Movies m ON </a:t>
            </a:r>
            <a:r>
              <a:rPr lang="en-IN" sz="2800" dirty="0" err="1"/>
              <a:t>r.MovieID</a:t>
            </a:r>
            <a:r>
              <a:rPr lang="en-IN" sz="2800" dirty="0"/>
              <a:t>=</a:t>
            </a:r>
            <a:r>
              <a:rPr lang="en-IN" sz="2800" dirty="0" err="1"/>
              <a:t>m.MovieID</a:t>
            </a:r>
            <a:r>
              <a:rPr lang="en-IN" sz="2800" dirty="0"/>
              <a:t>;</a:t>
            </a:r>
          </a:p>
          <a:p>
            <a:endParaRPr lang="en-IN" sz="28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7AD97-21CB-CC50-6218-398482859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462" y="353875"/>
            <a:ext cx="2695074" cy="24960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C0BFD6-E044-77EF-41A3-983AA1BBF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221" y="3224462"/>
            <a:ext cx="3641557" cy="336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2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D484A7-2A4A-E04B-6B1A-E5DD7C085937}"/>
              </a:ext>
            </a:extLst>
          </p:cNvPr>
          <p:cNvSpPr txBox="1"/>
          <p:nvPr/>
        </p:nvSpPr>
        <p:spPr>
          <a:xfrm>
            <a:off x="834189" y="433137"/>
            <a:ext cx="10427369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25)Movies never watched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m.Title</a:t>
            </a:r>
            <a:r>
              <a:rPr lang="en-US" sz="2800" dirty="0"/>
              <a:t> </a:t>
            </a:r>
          </a:p>
          <a:p>
            <a:r>
              <a:rPr lang="en-US" sz="2800" dirty="0"/>
              <a:t>FROM Movies m </a:t>
            </a:r>
          </a:p>
          <a:p>
            <a:r>
              <a:rPr lang="en-US" sz="2800" dirty="0"/>
              <a:t>LEFT JOIN Views v ON </a:t>
            </a:r>
            <a:r>
              <a:rPr lang="en-US" sz="2800" dirty="0" err="1"/>
              <a:t>m.MovieID</a:t>
            </a:r>
            <a:r>
              <a:rPr lang="en-US" sz="2800" dirty="0"/>
              <a:t> = </a:t>
            </a:r>
            <a:r>
              <a:rPr lang="en-US" sz="2800" dirty="0" err="1"/>
              <a:t>v.MovieID</a:t>
            </a:r>
            <a:r>
              <a:rPr lang="en-US" sz="2800" dirty="0"/>
              <a:t> 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v.ViewID</a:t>
            </a:r>
            <a:r>
              <a:rPr lang="en-US" sz="2800" dirty="0"/>
              <a:t> IS NULL;</a:t>
            </a:r>
          </a:p>
          <a:p>
            <a:endParaRPr lang="en-US" sz="2800" dirty="0"/>
          </a:p>
          <a:p>
            <a:r>
              <a:rPr lang="en-IN" sz="3200" b="1" dirty="0"/>
              <a:t>26)Movies never rated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m.Title</a:t>
            </a:r>
            <a:r>
              <a:rPr lang="en-US" sz="2800" dirty="0"/>
              <a:t> </a:t>
            </a:r>
          </a:p>
          <a:p>
            <a:r>
              <a:rPr lang="en-US" sz="2800" dirty="0"/>
              <a:t>FROM Movies m </a:t>
            </a:r>
          </a:p>
          <a:p>
            <a:r>
              <a:rPr lang="en-US" sz="2800" dirty="0"/>
              <a:t>LEFT JOIN Ratings r ON </a:t>
            </a:r>
            <a:r>
              <a:rPr lang="en-US" sz="2800" dirty="0" err="1"/>
              <a:t>m.MovieID</a:t>
            </a:r>
            <a:r>
              <a:rPr lang="en-US" sz="2800" dirty="0"/>
              <a:t> = </a:t>
            </a:r>
            <a:r>
              <a:rPr lang="en-US" sz="2800" dirty="0" err="1"/>
              <a:t>r.MovieID</a:t>
            </a:r>
            <a:r>
              <a:rPr lang="en-US" sz="2800" dirty="0"/>
              <a:t> 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r.RatingID</a:t>
            </a:r>
            <a:r>
              <a:rPr lang="en-US" sz="2800" dirty="0"/>
              <a:t> IS NULL;</a:t>
            </a:r>
          </a:p>
          <a:p>
            <a:endParaRPr lang="en-US" sz="28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77EEF3-C57D-4544-0B54-91890062B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433137"/>
            <a:ext cx="1561159" cy="13087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914440-205C-ADF0-1D08-D127A14B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379" y="3807420"/>
            <a:ext cx="2018112" cy="130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34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6F88D6-6113-D7E1-EA2E-0CE70996D013}"/>
              </a:ext>
            </a:extLst>
          </p:cNvPr>
          <p:cNvSpPr txBox="1"/>
          <p:nvPr/>
        </p:nvSpPr>
        <p:spPr>
          <a:xfrm>
            <a:off x="721895" y="497305"/>
            <a:ext cx="1045945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27)Users with total watch time above average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UserID</a:t>
            </a:r>
            <a:r>
              <a:rPr lang="en-US" sz="2800" dirty="0"/>
              <a:t>, SUM(</a:t>
            </a:r>
            <a:r>
              <a:rPr lang="en-US" sz="2800" dirty="0" err="1"/>
              <a:t>WatchTime</a:t>
            </a:r>
            <a:r>
              <a:rPr lang="en-US" sz="2800" dirty="0"/>
              <a:t>) AS </a:t>
            </a:r>
            <a:r>
              <a:rPr lang="en-US" sz="2800" dirty="0" err="1"/>
              <a:t>TotalWatch</a:t>
            </a:r>
            <a:r>
              <a:rPr lang="en-US" sz="2800" dirty="0"/>
              <a:t> </a:t>
            </a:r>
          </a:p>
          <a:p>
            <a:r>
              <a:rPr lang="en-US" sz="2800" dirty="0"/>
              <a:t>FROM Views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UserID</a:t>
            </a:r>
            <a:r>
              <a:rPr lang="en-US" sz="2800" dirty="0"/>
              <a:t> </a:t>
            </a:r>
          </a:p>
          <a:p>
            <a:r>
              <a:rPr lang="en-US" sz="2800" dirty="0"/>
              <a:t>HAVING SUM(</a:t>
            </a:r>
            <a:r>
              <a:rPr lang="en-US" sz="2800" dirty="0" err="1"/>
              <a:t>WatchTime</a:t>
            </a:r>
            <a:r>
              <a:rPr lang="en-US" sz="2800" dirty="0"/>
              <a:t>) &gt; (SELECT AVG(</a:t>
            </a:r>
            <a:r>
              <a:rPr lang="en-US" sz="2800" dirty="0" err="1"/>
              <a:t>WatchTime</a:t>
            </a:r>
            <a:r>
              <a:rPr lang="en-US" sz="2800" dirty="0"/>
              <a:t>) FROM Views);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3200" b="1" dirty="0"/>
              <a:t>28)Movies with average rating above 4.5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MovieID</a:t>
            </a:r>
            <a:r>
              <a:rPr lang="en-US" sz="2800" dirty="0"/>
              <a:t>, AVG(Rating) AS </a:t>
            </a:r>
            <a:r>
              <a:rPr lang="en-US" sz="2800" dirty="0" err="1"/>
              <a:t>AvgRating</a:t>
            </a:r>
            <a:r>
              <a:rPr lang="en-US" sz="2800" dirty="0"/>
              <a:t> </a:t>
            </a:r>
          </a:p>
          <a:p>
            <a:r>
              <a:rPr lang="en-US" sz="2800" dirty="0"/>
              <a:t>FROM Ratings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MovieID</a:t>
            </a:r>
            <a:r>
              <a:rPr lang="en-US" sz="2800" dirty="0"/>
              <a:t> </a:t>
            </a:r>
          </a:p>
          <a:p>
            <a:r>
              <a:rPr lang="en-US" sz="2800" dirty="0"/>
              <a:t>HAVING AVG(Rating) &gt; 4.5;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C5CD92-720F-DA46-C924-E5044CE09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851" y="192505"/>
            <a:ext cx="2385907" cy="20580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3ADCA-17D6-4ECF-CFC9-16B62998B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851" y="3469964"/>
            <a:ext cx="2385907" cy="205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24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655DAF-D157-3BB4-82F9-4FFE986099EC}"/>
              </a:ext>
            </a:extLst>
          </p:cNvPr>
          <p:cNvSpPr txBox="1"/>
          <p:nvPr/>
        </p:nvSpPr>
        <p:spPr>
          <a:xfrm>
            <a:off x="866274" y="513347"/>
            <a:ext cx="10315073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29)Top 3 movies by views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MovieID</a:t>
            </a:r>
            <a:r>
              <a:rPr lang="en-US" sz="2800" dirty="0"/>
              <a:t>, COUNT(*) AS Views </a:t>
            </a:r>
          </a:p>
          <a:p>
            <a:r>
              <a:rPr lang="en-US" sz="2800" dirty="0"/>
              <a:t>FROM Views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MovieID</a:t>
            </a:r>
            <a:r>
              <a:rPr lang="en-US" sz="2800" dirty="0"/>
              <a:t> </a:t>
            </a:r>
          </a:p>
          <a:p>
            <a:r>
              <a:rPr lang="en-US" sz="2800" dirty="0"/>
              <a:t>ORDER BY Views DESC </a:t>
            </a:r>
          </a:p>
          <a:p>
            <a:r>
              <a:rPr lang="en-US" sz="2800" dirty="0"/>
              <a:t>LIMIT 3;</a:t>
            </a:r>
          </a:p>
          <a:p>
            <a:endParaRPr lang="en-US" sz="2800" dirty="0"/>
          </a:p>
          <a:p>
            <a:r>
              <a:rPr lang="en-US" sz="3200" b="1" dirty="0"/>
              <a:t>30)Users who watched exactly 2 movies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UserID</a:t>
            </a:r>
            <a:r>
              <a:rPr lang="en-US" sz="2800" dirty="0"/>
              <a:t>, COUNT(*) AS </a:t>
            </a:r>
            <a:r>
              <a:rPr lang="en-US" sz="2800" dirty="0" err="1"/>
              <a:t>MovieCount</a:t>
            </a:r>
            <a:r>
              <a:rPr lang="en-US" sz="2800" dirty="0"/>
              <a:t> </a:t>
            </a:r>
          </a:p>
          <a:p>
            <a:r>
              <a:rPr lang="en-US" sz="2800" dirty="0"/>
              <a:t>FROM Views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UserID</a:t>
            </a:r>
            <a:r>
              <a:rPr lang="en-US" sz="2800" dirty="0"/>
              <a:t> </a:t>
            </a:r>
          </a:p>
          <a:p>
            <a:r>
              <a:rPr lang="en-US" sz="2800" dirty="0"/>
              <a:t>HAVING COUNT(*) = 2;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A42B5-57A8-3426-D695-EAF9E794A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119" y="513347"/>
            <a:ext cx="2704459" cy="20010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31AD0B-07B6-19AE-E5ED-FE865F238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340" y="3429000"/>
            <a:ext cx="2704459" cy="200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69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556B67-695F-0EA0-4BCC-1A163331BC7B}"/>
              </a:ext>
            </a:extLst>
          </p:cNvPr>
          <p:cNvSpPr txBox="1"/>
          <p:nvPr/>
        </p:nvSpPr>
        <p:spPr>
          <a:xfrm>
            <a:off x="770021" y="497305"/>
            <a:ext cx="1047549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32)Average watch time per movie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MovieID</a:t>
            </a:r>
            <a:r>
              <a:rPr lang="en-US" sz="2800" dirty="0"/>
              <a:t>, AVG(</a:t>
            </a:r>
            <a:r>
              <a:rPr lang="en-US" sz="2800" dirty="0" err="1"/>
              <a:t>WatchTime</a:t>
            </a:r>
            <a:r>
              <a:rPr lang="en-US" sz="2800" dirty="0"/>
              <a:t>) AS </a:t>
            </a:r>
            <a:r>
              <a:rPr lang="en-US" sz="2800" dirty="0" err="1"/>
              <a:t>AvgWatchTime</a:t>
            </a:r>
            <a:r>
              <a:rPr lang="en-US" sz="2800" dirty="0"/>
              <a:t> </a:t>
            </a:r>
          </a:p>
          <a:p>
            <a:r>
              <a:rPr lang="en-US" sz="2800" dirty="0"/>
              <a:t>FROM Views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MovieID</a:t>
            </a:r>
            <a:r>
              <a:rPr lang="en-US" sz="2800" dirty="0"/>
              <a:t>;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3200" b="1" dirty="0"/>
              <a:t>33)Users who rated more than 1 movie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UserID</a:t>
            </a:r>
            <a:r>
              <a:rPr lang="en-US" sz="2800" dirty="0"/>
              <a:t>, COUNT(*) AS </a:t>
            </a:r>
            <a:r>
              <a:rPr lang="en-US" sz="2800" dirty="0" err="1"/>
              <a:t>RatingsCount</a:t>
            </a:r>
            <a:r>
              <a:rPr lang="en-US" sz="2800" dirty="0"/>
              <a:t> </a:t>
            </a:r>
          </a:p>
          <a:p>
            <a:r>
              <a:rPr lang="en-US" sz="2800" dirty="0"/>
              <a:t>FROM Ratings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UserID</a:t>
            </a:r>
            <a:r>
              <a:rPr lang="en-US" sz="2800" dirty="0"/>
              <a:t> </a:t>
            </a:r>
          </a:p>
          <a:p>
            <a:r>
              <a:rPr lang="en-US" sz="2800" dirty="0"/>
              <a:t>HAVING COUNT(*) &gt; 1;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CE362-FC5C-6D3D-E279-9498CE19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951" y="497306"/>
            <a:ext cx="2537565" cy="2667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B14572-FA04-367A-1BD2-99850945F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951" y="4170947"/>
            <a:ext cx="2714028" cy="122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80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16D6EF-AE24-8036-5DE8-B7AE823E6766}"/>
              </a:ext>
            </a:extLst>
          </p:cNvPr>
          <p:cNvSpPr txBox="1"/>
          <p:nvPr/>
        </p:nvSpPr>
        <p:spPr>
          <a:xfrm>
            <a:off x="721895" y="433137"/>
            <a:ext cx="1063591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34)Users who watched but didn’t rate a movie</a:t>
            </a:r>
          </a:p>
          <a:p>
            <a:r>
              <a:rPr lang="en-US" sz="2800" dirty="0"/>
              <a:t>SELECT DISTINCT </a:t>
            </a:r>
            <a:r>
              <a:rPr lang="en-US" sz="2800" dirty="0" err="1"/>
              <a:t>v.UserID</a:t>
            </a:r>
            <a:r>
              <a:rPr lang="en-US" sz="2800" dirty="0"/>
              <a:t> </a:t>
            </a:r>
          </a:p>
          <a:p>
            <a:r>
              <a:rPr lang="en-US" sz="2800" dirty="0"/>
              <a:t>FROM Views v </a:t>
            </a:r>
          </a:p>
          <a:p>
            <a:r>
              <a:rPr lang="en-US" sz="2800" dirty="0"/>
              <a:t>LEFT JOIN Ratings r ON </a:t>
            </a:r>
            <a:r>
              <a:rPr lang="en-US" sz="2800" dirty="0" err="1"/>
              <a:t>v.UserID</a:t>
            </a:r>
            <a:r>
              <a:rPr lang="en-US" sz="2800" dirty="0"/>
              <a:t> = </a:t>
            </a:r>
            <a:r>
              <a:rPr lang="en-US" sz="2800" dirty="0" err="1"/>
              <a:t>r.UserID</a:t>
            </a:r>
            <a:r>
              <a:rPr lang="en-US" sz="2800" dirty="0"/>
              <a:t> </a:t>
            </a:r>
          </a:p>
          <a:p>
            <a:r>
              <a:rPr lang="en-US" sz="2800" dirty="0"/>
              <a:t>AND </a:t>
            </a:r>
            <a:r>
              <a:rPr lang="en-US" sz="2800" dirty="0" err="1"/>
              <a:t>v.MovieID</a:t>
            </a:r>
            <a:r>
              <a:rPr lang="en-US" sz="2800" dirty="0"/>
              <a:t> = </a:t>
            </a:r>
            <a:r>
              <a:rPr lang="en-US" sz="2800" dirty="0" err="1"/>
              <a:t>r.MovieID</a:t>
            </a:r>
            <a:r>
              <a:rPr lang="en-US" sz="2800" dirty="0"/>
              <a:t> 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r.RatingID</a:t>
            </a:r>
            <a:r>
              <a:rPr lang="en-US" sz="2800" dirty="0"/>
              <a:t> IS NULL;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3200" b="1" dirty="0"/>
              <a:t>35)Movies watched by at least 3 users</a:t>
            </a:r>
          </a:p>
          <a:p>
            <a:r>
              <a:rPr lang="en-US" sz="2800" dirty="0"/>
              <a:t>SELECT </a:t>
            </a:r>
            <a:r>
              <a:rPr lang="en-US" sz="2800" dirty="0" err="1"/>
              <a:t>MovieID</a:t>
            </a:r>
            <a:r>
              <a:rPr lang="en-US" sz="2800" dirty="0"/>
              <a:t> </a:t>
            </a:r>
          </a:p>
          <a:p>
            <a:r>
              <a:rPr lang="en-US" sz="2800" dirty="0"/>
              <a:t>FROM Views </a:t>
            </a:r>
          </a:p>
          <a:p>
            <a:r>
              <a:rPr lang="en-US" sz="2800" dirty="0"/>
              <a:t>GROUP BY </a:t>
            </a:r>
            <a:r>
              <a:rPr lang="en-US" sz="2800" dirty="0" err="1"/>
              <a:t>MovieID</a:t>
            </a:r>
            <a:r>
              <a:rPr lang="en-US" sz="2800" dirty="0"/>
              <a:t> </a:t>
            </a:r>
          </a:p>
          <a:p>
            <a:r>
              <a:rPr lang="en-US" sz="2800" dirty="0"/>
              <a:t>HAVING COUNT(DISTINCT </a:t>
            </a:r>
            <a:r>
              <a:rPr lang="en-US" sz="2800" dirty="0" err="1"/>
              <a:t>UserID</a:t>
            </a:r>
            <a:r>
              <a:rPr lang="en-US" sz="2800" dirty="0"/>
              <a:t>) &gt;= 3;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4C619-2A9F-EED6-AFFA-25F3472BC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116" y="673770"/>
            <a:ext cx="1751416" cy="25988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5978F4-0319-E407-F61A-2E9083252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116" y="4616116"/>
            <a:ext cx="1943922" cy="127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71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11BA0-3D81-85B1-5450-B875A559F217}"/>
              </a:ext>
            </a:extLst>
          </p:cNvPr>
          <p:cNvSpPr txBox="1"/>
          <p:nvPr/>
        </p:nvSpPr>
        <p:spPr>
          <a:xfrm>
            <a:off x="745958" y="333137"/>
            <a:ext cx="10411326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36)Top 2 users by total watch time</a:t>
            </a:r>
          </a:p>
          <a:p>
            <a:r>
              <a:rPr lang="en-IN" sz="2800" dirty="0"/>
              <a:t>SELECT </a:t>
            </a:r>
            <a:r>
              <a:rPr lang="en-IN" sz="2800" dirty="0" err="1"/>
              <a:t>UserID</a:t>
            </a:r>
            <a:r>
              <a:rPr lang="en-IN" sz="2800" dirty="0"/>
              <a:t>, SUM(</a:t>
            </a:r>
            <a:r>
              <a:rPr lang="en-IN" sz="2800" dirty="0" err="1"/>
              <a:t>WatchTime</a:t>
            </a:r>
            <a:r>
              <a:rPr lang="en-IN" sz="2800" dirty="0"/>
              <a:t>) AS </a:t>
            </a:r>
            <a:r>
              <a:rPr lang="en-IN" sz="2800" dirty="0" err="1"/>
              <a:t>TotalTime</a:t>
            </a:r>
            <a:r>
              <a:rPr lang="en-IN" sz="2800" dirty="0"/>
              <a:t> </a:t>
            </a:r>
          </a:p>
          <a:p>
            <a:r>
              <a:rPr lang="en-IN" sz="2800" dirty="0"/>
              <a:t>FROM Views </a:t>
            </a:r>
          </a:p>
          <a:p>
            <a:r>
              <a:rPr lang="en-IN" sz="2800" dirty="0"/>
              <a:t>GROUP BY </a:t>
            </a:r>
            <a:r>
              <a:rPr lang="en-IN" sz="2800" dirty="0" err="1"/>
              <a:t>UserID</a:t>
            </a:r>
            <a:r>
              <a:rPr lang="en-IN" sz="2800" dirty="0"/>
              <a:t> </a:t>
            </a:r>
          </a:p>
          <a:p>
            <a:r>
              <a:rPr lang="en-IN" sz="2800" dirty="0"/>
              <a:t>ORDER BY </a:t>
            </a:r>
            <a:r>
              <a:rPr lang="en-IN" sz="2800" dirty="0" err="1"/>
              <a:t>TotalTime</a:t>
            </a:r>
            <a:r>
              <a:rPr lang="en-IN" sz="2800" dirty="0"/>
              <a:t> DESC </a:t>
            </a:r>
          </a:p>
          <a:p>
            <a:r>
              <a:rPr lang="en-IN" sz="2800" dirty="0"/>
              <a:t>LIMIT 2;</a:t>
            </a:r>
          </a:p>
          <a:p>
            <a:endParaRPr lang="en-IN" sz="2800" dirty="0"/>
          </a:p>
          <a:p>
            <a:r>
              <a:rPr lang="en-IN" sz="3200" b="1" dirty="0"/>
              <a:t>37)Average rating per genre</a:t>
            </a:r>
          </a:p>
          <a:p>
            <a:r>
              <a:rPr lang="en-IN" sz="2800" dirty="0"/>
              <a:t>SELECT </a:t>
            </a:r>
            <a:r>
              <a:rPr lang="en-IN" sz="2800" dirty="0" err="1"/>
              <a:t>g.GenreName</a:t>
            </a:r>
            <a:r>
              <a:rPr lang="en-IN" sz="2800" dirty="0"/>
              <a:t>, AVG(</a:t>
            </a:r>
            <a:r>
              <a:rPr lang="en-IN" sz="2800" dirty="0" err="1"/>
              <a:t>r.Rating</a:t>
            </a:r>
            <a:r>
              <a:rPr lang="en-IN" sz="2800" dirty="0"/>
              <a:t>) AS </a:t>
            </a:r>
            <a:r>
              <a:rPr lang="en-IN" sz="2800" dirty="0" err="1"/>
              <a:t>AvgRating</a:t>
            </a:r>
            <a:r>
              <a:rPr lang="en-IN" sz="2800" dirty="0"/>
              <a:t> </a:t>
            </a:r>
          </a:p>
          <a:p>
            <a:r>
              <a:rPr lang="en-IN" sz="2800" dirty="0"/>
              <a:t>FROM Ratings r </a:t>
            </a:r>
          </a:p>
          <a:p>
            <a:r>
              <a:rPr lang="en-IN" sz="2800" dirty="0"/>
              <a:t>INNER JOIN Movies m ON </a:t>
            </a:r>
            <a:r>
              <a:rPr lang="en-IN" sz="2800" dirty="0" err="1"/>
              <a:t>r.MovieID</a:t>
            </a:r>
            <a:r>
              <a:rPr lang="en-IN" sz="2800" dirty="0"/>
              <a:t> = </a:t>
            </a:r>
            <a:r>
              <a:rPr lang="en-IN" sz="2800" dirty="0" err="1"/>
              <a:t>m.MovieID</a:t>
            </a:r>
            <a:r>
              <a:rPr lang="en-IN" sz="2800" dirty="0"/>
              <a:t> </a:t>
            </a:r>
          </a:p>
          <a:p>
            <a:r>
              <a:rPr lang="en-IN" sz="2800" dirty="0"/>
              <a:t>INNER JOIN </a:t>
            </a:r>
            <a:r>
              <a:rPr lang="en-IN" sz="2800" dirty="0" err="1"/>
              <a:t>MovieGenres</a:t>
            </a:r>
            <a:r>
              <a:rPr lang="en-IN" sz="2800" dirty="0"/>
              <a:t> mg ON </a:t>
            </a:r>
            <a:r>
              <a:rPr lang="en-IN" sz="2800" dirty="0" err="1"/>
              <a:t>m.MovieID</a:t>
            </a:r>
            <a:r>
              <a:rPr lang="en-IN" sz="2800" dirty="0"/>
              <a:t> = </a:t>
            </a:r>
            <a:r>
              <a:rPr lang="en-IN" sz="2800" dirty="0" err="1"/>
              <a:t>mg.MovieID</a:t>
            </a:r>
            <a:r>
              <a:rPr lang="en-IN" sz="2800" dirty="0"/>
              <a:t> </a:t>
            </a:r>
          </a:p>
          <a:p>
            <a:r>
              <a:rPr lang="en-IN" sz="2800" dirty="0"/>
              <a:t>INNER JOIN Genres g ON </a:t>
            </a:r>
            <a:r>
              <a:rPr lang="en-IN" sz="2800" dirty="0" err="1"/>
              <a:t>mg.GenreID</a:t>
            </a:r>
            <a:r>
              <a:rPr lang="en-IN" sz="2800" dirty="0"/>
              <a:t> = </a:t>
            </a:r>
            <a:r>
              <a:rPr lang="en-IN" sz="2800" dirty="0" err="1"/>
              <a:t>g.GenreID</a:t>
            </a:r>
            <a:r>
              <a:rPr lang="en-IN" sz="2800" dirty="0"/>
              <a:t> </a:t>
            </a:r>
          </a:p>
          <a:p>
            <a:r>
              <a:rPr lang="en-IN" sz="2800" dirty="0"/>
              <a:t>GROUP BY </a:t>
            </a:r>
            <a:r>
              <a:rPr lang="en-IN" sz="2800" dirty="0" err="1"/>
              <a:t>g.GenreName</a:t>
            </a:r>
            <a:r>
              <a:rPr lang="en-IN" sz="2800" dirty="0"/>
              <a:t>;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76867-16F3-0CDE-0F3A-3747A98B0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074" y="609600"/>
            <a:ext cx="2236495" cy="13956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E0295C-E798-3643-C5BB-6F4182207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578" y="3769895"/>
            <a:ext cx="2236495" cy="225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53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BEB9DC-7225-DDF1-2C03-68590B51038B}"/>
              </a:ext>
            </a:extLst>
          </p:cNvPr>
          <p:cNvSpPr txBox="1"/>
          <p:nvPr/>
        </p:nvSpPr>
        <p:spPr>
          <a:xfrm>
            <a:off x="994611" y="721895"/>
            <a:ext cx="1013861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The Netflix Database Management System efficiently handles user, movie, and subscription data.</a:t>
            </a:r>
            <a:br>
              <a:rPr lang="en-IN" sz="3200" dirty="0"/>
            </a:b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Using SQL queries, valuable insights like revenue trends and viewing patterns can be obtained.</a:t>
            </a:r>
            <a:br>
              <a:rPr lang="en-IN" sz="3200" dirty="0"/>
            </a:b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Future Scope:</a:t>
            </a:r>
            <a:r>
              <a:rPr lang="en-IN" sz="3200" dirty="0"/>
              <a:t> Integrating AI-based recommendation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2017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0C4630-51A0-EDF2-DEE6-B40F91A04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8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1511</TotalTime>
  <Words>1604</Words>
  <Application>Microsoft Office PowerPoint</Application>
  <PresentationFormat>Widescreen</PresentationFormat>
  <Paragraphs>239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Tw Cen MT</vt:lpstr>
      <vt:lpstr>Circuit</vt:lpstr>
      <vt:lpstr>Netflix Database management system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kommireddy manikanta</dc:creator>
  <cp:lastModifiedBy>kommireddy manikanta</cp:lastModifiedBy>
  <cp:revision>1</cp:revision>
  <dcterms:created xsi:type="dcterms:W3CDTF">2025-10-16T08:28:59Z</dcterms:created>
  <dcterms:modified xsi:type="dcterms:W3CDTF">2025-10-17T09:40:31Z</dcterms:modified>
</cp:coreProperties>
</file>